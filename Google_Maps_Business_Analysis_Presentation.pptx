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9ABC9B-729A-43D3-90D5-F372EE63BE12}" v="36" dt="2026-07-03T15:13:12.4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ay Joshi" userId="0b44f437fe15df5a" providerId="LiveId" clId="{012C3C4A-214D-4B81-BCA4-ADAFDDFE6B12}"/>
    <pc:docChg chg="undo custSel addSld delSld modSld">
      <pc:chgData name="Abhay Joshi" userId="0b44f437fe15df5a" providerId="LiveId" clId="{012C3C4A-214D-4B81-BCA4-ADAFDDFE6B12}" dt="2026-07-03T15:13:34.867" v="228" actId="255"/>
      <pc:docMkLst>
        <pc:docMk/>
      </pc:docMkLst>
      <pc:sldChg chg="modSp mod">
        <pc:chgData name="Abhay Joshi" userId="0b44f437fe15df5a" providerId="LiveId" clId="{012C3C4A-214D-4B81-BCA4-ADAFDDFE6B12}" dt="2026-07-03T14:45:49.559" v="22" actId="14100"/>
        <pc:sldMkLst>
          <pc:docMk/>
          <pc:sldMk cId="3541881871" sldId="256"/>
        </pc:sldMkLst>
        <pc:spChg chg="mod">
          <ac:chgData name="Abhay Joshi" userId="0b44f437fe15df5a" providerId="LiveId" clId="{012C3C4A-214D-4B81-BCA4-ADAFDDFE6B12}" dt="2026-07-03T14:45:49.559" v="22" actId="14100"/>
          <ac:spMkLst>
            <pc:docMk/>
            <pc:sldMk cId="3541881871" sldId="256"/>
            <ac:spMk id="2" creationId="{79F0B808-2902-0197-826E-9187F640BA27}"/>
          </ac:spMkLst>
        </pc:spChg>
        <pc:spChg chg="mod">
          <ac:chgData name="Abhay Joshi" userId="0b44f437fe15df5a" providerId="LiveId" clId="{012C3C4A-214D-4B81-BCA4-ADAFDDFE6B12}" dt="2026-07-03T14:45:39.484" v="21" actId="122"/>
          <ac:spMkLst>
            <pc:docMk/>
            <pc:sldMk cId="3541881871" sldId="256"/>
            <ac:spMk id="3" creationId="{F602CB58-AD97-B1CE-62BB-36BA4E6DE966}"/>
          </ac:spMkLst>
        </pc:spChg>
      </pc:sldChg>
      <pc:sldChg chg="modSp new mod">
        <pc:chgData name="Abhay Joshi" userId="0b44f437fe15df5a" providerId="LiveId" clId="{012C3C4A-214D-4B81-BCA4-ADAFDDFE6B12}" dt="2026-07-03T14:48:24.417" v="44" actId="27636"/>
        <pc:sldMkLst>
          <pc:docMk/>
          <pc:sldMk cId="4197572486" sldId="257"/>
        </pc:sldMkLst>
        <pc:spChg chg="mod">
          <ac:chgData name="Abhay Joshi" userId="0b44f437fe15df5a" providerId="LiveId" clId="{012C3C4A-214D-4B81-BCA4-ADAFDDFE6B12}" dt="2026-07-03T14:48:19.165" v="42" actId="14100"/>
          <ac:spMkLst>
            <pc:docMk/>
            <pc:sldMk cId="4197572486" sldId="257"/>
            <ac:spMk id="2" creationId="{6065A7FB-3C2D-08A5-86D7-8AC6BEF48840}"/>
          </ac:spMkLst>
        </pc:spChg>
        <pc:spChg chg="mod">
          <ac:chgData name="Abhay Joshi" userId="0b44f437fe15df5a" providerId="LiveId" clId="{012C3C4A-214D-4B81-BCA4-ADAFDDFE6B12}" dt="2026-07-03T14:48:24.417" v="44" actId="27636"/>
          <ac:spMkLst>
            <pc:docMk/>
            <pc:sldMk cId="4197572486" sldId="257"/>
            <ac:spMk id="3" creationId="{2218B387-EDA0-2842-807B-704F62ECCB89}"/>
          </ac:spMkLst>
        </pc:spChg>
      </pc:sldChg>
      <pc:sldChg chg="addSp modSp new mod">
        <pc:chgData name="Abhay Joshi" userId="0b44f437fe15df5a" providerId="LiveId" clId="{012C3C4A-214D-4B81-BCA4-ADAFDDFE6B12}" dt="2026-07-03T14:57:30.184" v="145" actId="20577"/>
        <pc:sldMkLst>
          <pc:docMk/>
          <pc:sldMk cId="4157433070" sldId="258"/>
        </pc:sldMkLst>
        <pc:spChg chg="mod">
          <ac:chgData name="Abhay Joshi" userId="0b44f437fe15df5a" providerId="LiveId" clId="{012C3C4A-214D-4B81-BCA4-ADAFDDFE6B12}" dt="2026-07-03T14:54:03.051" v="88" actId="14100"/>
          <ac:spMkLst>
            <pc:docMk/>
            <pc:sldMk cId="4157433070" sldId="258"/>
            <ac:spMk id="2" creationId="{EA4654E2-053B-20F0-AA3D-320AE2CF4A2A}"/>
          </ac:spMkLst>
        </pc:spChg>
        <pc:spChg chg="mod">
          <ac:chgData name="Abhay Joshi" userId="0b44f437fe15df5a" providerId="LiveId" clId="{012C3C4A-214D-4B81-BCA4-ADAFDDFE6B12}" dt="2026-07-03T14:54:07.393" v="90" actId="27636"/>
          <ac:spMkLst>
            <pc:docMk/>
            <pc:sldMk cId="4157433070" sldId="258"/>
            <ac:spMk id="3" creationId="{A12F3B81-F884-E9BF-083C-F426360231A7}"/>
          </ac:spMkLst>
        </pc:spChg>
        <pc:graphicFrameChg chg="add mod modGraphic">
          <ac:chgData name="Abhay Joshi" userId="0b44f437fe15df5a" providerId="LiveId" clId="{012C3C4A-214D-4B81-BCA4-ADAFDDFE6B12}" dt="2026-07-03T14:57:30.184" v="145" actId="20577"/>
          <ac:graphicFrameMkLst>
            <pc:docMk/>
            <pc:sldMk cId="4157433070" sldId="258"/>
            <ac:graphicFrameMk id="4" creationId="{78A75B89-AC30-A9A6-66A5-F8E70060E255}"/>
          </ac:graphicFrameMkLst>
        </pc:graphicFrameChg>
      </pc:sldChg>
      <pc:sldChg chg="addSp modSp new mod">
        <pc:chgData name="Abhay Joshi" userId="0b44f437fe15df5a" providerId="LiveId" clId="{012C3C4A-214D-4B81-BCA4-ADAFDDFE6B12}" dt="2026-07-03T15:03:27.274" v="160" actId="14100"/>
        <pc:sldMkLst>
          <pc:docMk/>
          <pc:sldMk cId="2221269121" sldId="259"/>
        </pc:sldMkLst>
        <pc:spChg chg="mod">
          <ac:chgData name="Abhay Joshi" userId="0b44f437fe15df5a" providerId="LiveId" clId="{012C3C4A-214D-4B81-BCA4-ADAFDDFE6B12}" dt="2026-07-03T15:03:12.307" v="157" actId="14100"/>
          <ac:spMkLst>
            <pc:docMk/>
            <pc:sldMk cId="2221269121" sldId="259"/>
            <ac:spMk id="2" creationId="{4E0741D7-D97E-D49E-4BB5-C62C7CCD0A9D}"/>
          </ac:spMkLst>
        </pc:spChg>
        <pc:picChg chg="add mod">
          <ac:chgData name="Abhay Joshi" userId="0b44f437fe15df5a" providerId="LiveId" clId="{012C3C4A-214D-4B81-BCA4-ADAFDDFE6B12}" dt="2026-07-03T15:03:27.274" v="160" actId="14100"/>
          <ac:picMkLst>
            <pc:docMk/>
            <pc:sldMk cId="2221269121" sldId="259"/>
            <ac:picMk id="4" creationId="{A5D77FBB-0B03-519B-5C1D-EF4904FCBD0A}"/>
          </ac:picMkLst>
        </pc:picChg>
      </pc:sldChg>
      <pc:sldChg chg="modSp new mod">
        <pc:chgData name="Abhay Joshi" userId="0b44f437fe15df5a" providerId="LiveId" clId="{012C3C4A-214D-4B81-BCA4-ADAFDDFE6B12}" dt="2026-07-03T15:06:11.583" v="179"/>
        <pc:sldMkLst>
          <pc:docMk/>
          <pc:sldMk cId="2152724544" sldId="260"/>
        </pc:sldMkLst>
        <pc:spChg chg="mod">
          <ac:chgData name="Abhay Joshi" userId="0b44f437fe15df5a" providerId="LiveId" clId="{012C3C4A-214D-4B81-BCA4-ADAFDDFE6B12}" dt="2026-07-03T15:04:36.033" v="166" actId="14100"/>
          <ac:spMkLst>
            <pc:docMk/>
            <pc:sldMk cId="2152724544" sldId="260"/>
            <ac:spMk id="2" creationId="{C61D14E2-36EB-AA1A-C48D-41ECD20E71E7}"/>
          </ac:spMkLst>
        </pc:spChg>
        <pc:spChg chg="mod">
          <ac:chgData name="Abhay Joshi" userId="0b44f437fe15df5a" providerId="LiveId" clId="{012C3C4A-214D-4B81-BCA4-ADAFDDFE6B12}" dt="2026-07-03T15:06:11.583" v="179"/>
          <ac:spMkLst>
            <pc:docMk/>
            <pc:sldMk cId="2152724544" sldId="260"/>
            <ac:spMk id="3" creationId="{B5E36D18-58C5-16D4-3DC2-3B40A344B793}"/>
          </ac:spMkLst>
        </pc:spChg>
      </pc:sldChg>
      <pc:sldChg chg="new del">
        <pc:chgData name="Abhay Joshi" userId="0b44f437fe15df5a" providerId="LiveId" clId="{012C3C4A-214D-4B81-BCA4-ADAFDDFE6B12}" dt="2026-07-03T15:07:01.373" v="181" actId="2696"/>
        <pc:sldMkLst>
          <pc:docMk/>
          <pc:sldMk cId="245627921" sldId="261"/>
        </pc:sldMkLst>
      </pc:sldChg>
      <pc:sldChg chg="modSp new mod">
        <pc:chgData name="Abhay Joshi" userId="0b44f437fe15df5a" providerId="LiveId" clId="{012C3C4A-214D-4B81-BCA4-ADAFDDFE6B12}" dt="2026-07-03T15:09:32.695" v="208" actId="14100"/>
        <pc:sldMkLst>
          <pc:docMk/>
          <pc:sldMk cId="1578659782" sldId="261"/>
        </pc:sldMkLst>
        <pc:spChg chg="mod">
          <ac:chgData name="Abhay Joshi" userId="0b44f437fe15df5a" providerId="LiveId" clId="{012C3C4A-214D-4B81-BCA4-ADAFDDFE6B12}" dt="2026-07-03T15:09:32.695" v="208" actId="14100"/>
          <ac:spMkLst>
            <pc:docMk/>
            <pc:sldMk cId="1578659782" sldId="261"/>
            <ac:spMk id="2" creationId="{38DBCDFE-67D3-AA4E-DFA6-AF4F01BCD071}"/>
          </ac:spMkLst>
        </pc:spChg>
        <pc:spChg chg="mod">
          <ac:chgData name="Abhay Joshi" userId="0b44f437fe15df5a" providerId="LiveId" clId="{012C3C4A-214D-4B81-BCA4-ADAFDDFE6B12}" dt="2026-07-03T15:09:24.185" v="206" actId="14100"/>
          <ac:spMkLst>
            <pc:docMk/>
            <pc:sldMk cId="1578659782" sldId="261"/>
            <ac:spMk id="3" creationId="{07626E2F-0D27-59ED-5669-9795C6399DFA}"/>
          </ac:spMkLst>
        </pc:spChg>
      </pc:sldChg>
      <pc:sldChg chg="modSp new mod">
        <pc:chgData name="Abhay Joshi" userId="0b44f437fe15df5a" providerId="LiveId" clId="{012C3C4A-214D-4B81-BCA4-ADAFDDFE6B12}" dt="2026-07-03T15:12:13.717" v="221" actId="20577"/>
        <pc:sldMkLst>
          <pc:docMk/>
          <pc:sldMk cId="2398118695" sldId="262"/>
        </pc:sldMkLst>
        <pc:spChg chg="mod">
          <ac:chgData name="Abhay Joshi" userId="0b44f437fe15df5a" providerId="LiveId" clId="{012C3C4A-214D-4B81-BCA4-ADAFDDFE6B12}" dt="2026-07-03T15:10:14.693" v="212"/>
          <ac:spMkLst>
            <pc:docMk/>
            <pc:sldMk cId="2398118695" sldId="262"/>
            <ac:spMk id="2" creationId="{5AE2A01C-1694-4D27-0FB4-EAD3D0146886}"/>
          </ac:spMkLst>
        </pc:spChg>
        <pc:spChg chg="mod">
          <ac:chgData name="Abhay Joshi" userId="0b44f437fe15df5a" providerId="LiveId" clId="{012C3C4A-214D-4B81-BCA4-ADAFDDFE6B12}" dt="2026-07-03T15:12:13.717" v="221" actId="20577"/>
          <ac:spMkLst>
            <pc:docMk/>
            <pc:sldMk cId="2398118695" sldId="262"/>
            <ac:spMk id="3" creationId="{CB35AA4D-A1D0-4F86-5860-C89F9588511C}"/>
          </ac:spMkLst>
        </pc:spChg>
      </pc:sldChg>
      <pc:sldChg chg="modSp new mod">
        <pc:chgData name="Abhay Joshi" userId="0b44f437fe15df5a" providerId="LiveId" clId="{012C3C4A-214D-4B81-BCA4-ADAFDDFE6B12}" dt="2026-07-03T15:13:34.867" v="228" actId="255"/>
        <pc:sldMkLst>
          <pc:docMk/>
          <pc:sldMk cId="4015551889" sldId="263"/>
        </pc:sldMkLst>
        <pc:spChg chg="mod">
          <ac:chgData name="Abhay Joshi" userId="0b44f437fe15df5a" providerId="LiveId" clId="{012C3C4A-214D-4B81-BCA4-ADAFDDFE6B12}" dt="2026-07-03T15:13:34.867" v="228" actId="255"/>
          <ac:spMkLst>
            <pc:docMk/>
            <pc:sldMk cId="4015551889" sldId="263"/>
            <ac:spMk id="2" creationId="{160011EA-EA09-65EC-5518-59011265801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F8760-2909-6729-5F55-6D634CBDC2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AB6C92D-3A50-9AEC-5FF0-28EF555CC8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576D5A-9EA8-F8F5-8CA0-44BC69BFDB09}"/>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5" name="Footer Placeholder 4">
            <a:extLst>
              <a:ext uri="{FF2B5EF4-FFF2-40B4-BE49-F238E27FC236}">
                <a16:creationId xmlns:a16="http://schemas.microsoft.com/office/drawing/2014/main" id="{2B72B03D-8BB0-0D0E-669B-BE5D334653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E42661-7B8E-C187-04C3-99DC0B65D427}"/>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1817910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8EDEA-352A-DB2E-DF28-1066E7F82F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2F1D03-D3AA-E3DB-5389-3924A922D5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B96285-D09D-7027-BD28-B397ECC570FF}"/>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5" name="Footer Placeholder 4">
            <a:extLst>
              <a:ext uri="{FF2B5EF4-FFF2-40B4-BE49-F238E27FC236}">
                <a16:creationId xmlns:a16="http://schemas.microsoft.com/office/drawing/2014/main" id="{822B1031-A2BF-376A-B6C2-5E85528B13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503D2D-EC1B-BEE5-E7F2-01ABA4C4CCDC}"/>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4156900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E7549-AAFF-4EC4-B7A8-88D6353763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6B987C-C362-B3E7-606E-21CEC7AFC3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372748-D9B4-17E3-72FA-259F0E4AE5B1}"/>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5" name="Footer Placeholder 4">
            <a:extLst>
              <a:ext uri="{FF2B5EF4-FFF2-40B4-BE49-F238E27FC236}">
                <a16:creationId xmlns:a16="http://schemas.microsoft.com/office/drawing/2014/main" id="{A6869DB0-B1A7-8BE7-3FE2-92E6453844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91D1BA-B8B8-D5D8-445A-1B38F8D56182}"/>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1178133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8FF0F-17AB-B9C4-9616-45BE08D3E8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7920B7-DCA9-104D-6B24-986DECDE28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D998DD0-9B0C-BD7F-A7B8-3F8A6BBC22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7ABB13-79B0-1443-3BFF-B5ACF0702EF4}"/>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6" name="Footer Placeholder 5">
            <a:extLst>
              <a:ext uri="{FF2B5EF4-FFF2-40B4-BE49-F238E27FC236}">
                <a16:creationId xmlns:a16="http://schemas.microsoft.com/office/drawing/2014/main" id="{6FAB84E7-E1AE-0BDD-A059-3912B85586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07BF84-04D4-550A-D3C4-566083256006}"/>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2106311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3D6CE-78B7-591D-BFA8-EB8A44CA8E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EAC004-26BB-2ACE-A0BB-7A89778D94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1BF523-6E9B-D9EB-4CED-67A9B066F6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A60CB0-9559-427B-87E6-64B7ED21AA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8DEEE8-493C-D9D8-4577-B78CD4FE60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85BE0E5-6538-1C92-22C2-5511E9AB0E81}"/>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8" name="Footer Placeholder 7">
            <a:extLst>
              <a:ext uri="{FF2B5EF4-FFF2-40B4-BE49-F238E27FC236}">
                <a16:creationId xmlns:a16="http://schemas.microsoft.com/office/drawing/2014/main" id="{AD4A8BD9-8CFB-09A6-0C22-F98C676B3A3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99142C-781A-4D80-0349-BDF13E02C242}"/>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1820160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63915-18C1-805B-54C1-C62638932E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53D0B4F-A806-1B29-EF6B-1F524FBA4043}"/>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4" name="Footer Placeholder 3">
            <a:extLst>
              <a:ext uri="{FF2B5EF4-FFF2-40B4-BE49-F238E27FC236}">
                <a16:creationId xmlns:a16="http://schemas.microsoft.com/office/drawing/2014/main" id="{27B49450-E47A-1FDC-F278-C5CDEBD66D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D9488FD-88E9-3A53-8B39-11BA22F28386}"/>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1011948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2E47F6-3566-9957-B184-49B86308A1D7}"/>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3" name="Footer Placeholder 2">
            <a:extLst>
              <a:ext uri="{FF2B5EF4-FFF2-40B4-BE49-F238E27FC236}">
                <a16:creationId xmlns:a16="http://schemas.microsoft.com/office/drawing/2014/main" id="{96E5ADA9-40F6-741F-4598-31EB804664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262B935-5D7C-63EB-B417-6844E36F33AD}"/>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241859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9848D-3FA8-C656-405F-41CF1F17E3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0BBE1-3471-043E-CEA5-C791865126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203EE7-C40D-54DA-3C95-5A2AACF76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EDB37F-E7AE-D516-61EA-580E62AA9B2D}"/>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6" name="Footer Placeholder 5">
            <a:extLst>
              <a:ext uri="{FF2B5EF4-FFF2-40B4-BE49-F238E27FC236}">
                <a16:creationId xmlns:a16="http://schemas.microsoft.com/office/drawing/2014/main" id="{89BF84A3-5CB6-C767-FC6C-C9F004C307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CF118B-DFBD-44C9-2F2A-2D7957A5DD88}"/>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3153296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C1E80-CE19-AF73-337D-F56AEEBFF7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C30293-A523-5D9B-4616-A9CAA63F11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4B68DE-6BE9-E57A-C84A-E156F42ACF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E3C662-F17B-C4F8-2FD9-11EC5979B85E}"/>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6" name="Footer Placeholder 5">
            <a:extLst>
              <a:ext uri="{FF2B5EF4-FFF2-40B4-BE49-F238E27FC236}">
                <a16:creationId xmlns:a16="http://schemas.microsoft.com/office/drawing/2014/main" id="{58CE3CD6-1833-86FC-3DA6-3CA2E15111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B05069-D717-865F-A409-CBEDE31FC14C}"/>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3662972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3F414-56B4-AD1E-16B9-B75149560A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A03999-874E-32A1-B985-B5DF5F4785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B7975C-9B10-3A4B-CC18-C59403AFAABB}"/>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5" name="Footer Placeholder 4">
            <a:extLst>
              <a:ext uri="{FF2B5EF4-FFF2-40B4-BE49-F238E27FC236}">
                <a16:creationId xmlns:a16="http://schemas.microsoft.com/office/drawing/2014/main" id="{C67CF010-7643-CDDB-8F43-AF3FDFED39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31184B-B2DC-DF71-372D-5D09332ED33E}"/>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165845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A7925B-4740-C12D-3CA8-6E23FF72F5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610A35-33B3-0F17-C57D-B2B1B73A48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639E6C-7EDE-619C-3E1F-F210C6054EC4}"/>
              </a:ext>
            </a:extLst>
          </p:cNvPr>
          <p:cNvSpPr>
            <a:spLocks noGrp="1"/>
          </p:cNvSpPr>
          <p:nvPr>
            <p:ph type="dt" sz="half" idx="10"/>
          </p:nvPr>
        </p:nvSpPr>
        <p:spPr/>
        <p:txBody>
          <a:bodyPr/>
          <a:lstStyle/>
          <a:p>
            <a:fld id="{96F07676-8DCD-40ED-8613-CF8EBA82BCCF}" type="datetimeFigureOut">
              <a:rPr lang="en-IN" smtClean="0"/>
              <a:t>03-07-2026</a:t>
            </a:fld>
            <a:endParaRPr lang="en-IN"/>
          </a:p>
        </p:txBody>
      </p:sp>
      <p:sp>
        <p:nvSpPr>
          <p:cNvPr id="5" name="Footer Placeholder 4">
            <a:extLst>
              <a:ext uri="{FF2B5EF4-FFF2-40B4-BE49-F238E27FC236}">
                <a16:creationId xmlns:a16="http://schemas.microsoft.com/office/drawing/2014/main" id="{DF85F3F3-5F89-2B2D-0471-E26F028469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46C429-76C8-4C7A-9093-A442FE8D48AD}"/>
              </a:ext>
            </a:extLst>
          </p:cNvPr>
          <p:cNvSpPr>
            <a:spLocks noGrp="1"/>
          </p:cNvSpPr>
          <p:nvPr>
            <p:ph type="sldNum" sz="quarter" idx="12"/>
          </p:nvPr>
        </p:nvSpPr>
        <p:spPr/>
        <p:txBody>
          <a:bodyPr/>
          <a:lstStyle/>
          <a:p>
            <a:fld id="{6EE5BD27-075F-44AD-B9A5-DC8595807783}" type="slidenum">
              <a:rPr lang="en-IN" smtClean="0"/>
              <a:t>‹#›</a:t>
            </a:fld>
            <a:endParaRPr lang="en-IN"/>
          </a:p>
        </p:txBody>
      </p:sp>
    </p:spTree>
    <p:extLst>
      <p:ext uri="{BB962C8B-B14F-4D97-AF65-F5344CB8AC3E}">
        <p14:creationId xmlns:p14="http://schemas.microsoft.com/office/powerpoint/2010/main" val="2269758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03F3EA-7E31-A5E0-4046-B9735BE385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98C514-D22F-C9E5-122F-CA3D158B08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8878AB-BD69-1FE7-D337-2FFD20AC79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07676-8DCD-40ED-8613-CF8EBA82BCCF}" type="datetimeFigureOut">
              <a:rPr lang="en-IN" smtClean="0"/>
              <a:t>03-07-2026</a:t>
            </a:fld>
            <a:endParaRPr lang="en-IN"/>
          </a:p>
        </p:txBody>
      </p:sp>
      <p:sp>
        <p:nvSpPr>
          <p:cNvPr id="5" name="Footer Placeholder 4">
            <a:extLst>
              <a:ext uri="{FF2B5EF4-FFF2-40B4-BE49-F238E27FC236}">
                <a16:creationId xmlns:a16="http://schemas.microsoft.com/office/drawing/2014/main" id="{799531A2-6E60-7B56-4A86-FC0B22B89F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DA450A2-6D57-A481-E847-5475E2497F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E5BD27-075F-44AD-B9A5-DC8595807783}" type="slidenum">
              <a:rPr lang="en-IN" smtClean="0"/>
              <a:t>‹#›</a:t>
            </a:fld>
            <a:endParaRPr lang="en-IN"/>
          </a:p>
        </p:txBody>
      </p:sp>
    </p:spTree>
    <p:extLst>
      <p:ext uri="{BB962C8B-B14F-4D97-AF65-F5344CB8AC3E}">
        <p14:creationId xmlns:p14="http://schemas.microsoft.com/office/powerpoint/2010/main" val="2791090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B808-2902-0197-826E-9187F640BA27}"/>
              </a:ext>
            </a:extLst>
          </p:cNvPr>
          <p:cNvSpPr>
            <a:spLocks noGrp="1"/>
          </p:cNvSpPr>
          <p:nvPr>
            <p:ph type="ctrTitle"/>
          </p:nvPr>
        </p:nvSpPr>
        <p:spPr>
          <a:xfrm>
            <a:off x="1524000" y="314632"/>
            <a:ext cx="9144000" cy="619433"/>
          </a:xfrm>
        </p:spPr>
        <p:txBody>
          <a:bodyPr>
            <a:normAutofit/>
          </a:bodyPr>
          <a:lstStyle/>
          <a:p>
            <a:r>
              <a:rPr lang="en-US" sz="3200" b="1" u="sng" dirty="0">
                <a:highlight>
                  <a:srgbClr val="C0C0C0"/>
                </a:highlight>
              </a:rPr>
              <a:t>Google Maps Business Analysis Dashboard</a:t>
            </a:r>
            <a:endParaRPr lang="en-IN" sz="3200" b="1" u="sng" dirty="0">
              <a:highlight>
                <a:srgbClr val="C0C0C0"/>
              </a:highlight>
            </a:endParaRPr>
          </a:p>
        </p:txBody>
      </p:sp>
      <p:sp>
        <p:nvSpPr>
          <p:cNvPr id="3" name="Subtitle 2">
            <a:extLst>
              <a:ext uri="{FF2B5EF4-FFF2-40B4-BE49-F238E27FC236}">
                <a16:creationId xmlns:a16="http://schemas.microsoft.com/office/drawing/2014/main" id="{F602CB58-AD97-B1CE-62BB-36BA4E6DE966}"/>
              </a:ext>
            </a:extLst>
          </p:cNvPr>
          <p:cNvSpPr>
            <a:spLocks noGrp="1"/>
          </p:cNvSpPr>
          <p:nvPr>
            <p:ph type="subTitle" idx="1"/>
          </p:nvPr>
        </p:nvSpPr>
        <p:spPr>
          <a:xfrm>
            <a:off x="1524000" y="1563330"/>
            <a:ext cx="9144000" cy="3067664"/>
          </a:xfrm>
        </p:spPr>
        <p:txBody>
          <a:bodyPr>
            <a:normAutofit/>
          </a:bodyPr>
          <a:lstStyle/>
          <a:p>
            <a:r>
              <a:rPr lang="en-US" sz="2000" dirty="0"/>
              <a:t>Analysis of Cafes, Gyms &amp; Salons in Chandigarh</a:t>
            </a:r>
          </a:p>
          <a:p>
            <a:endParaRPr lang="en-US" sz="2000" dirty="0"/>
          </a:p>
          <a:p>
            <a:r>
              <a:rPr lang="en-US" sz="2000" dirty="0"/>
              <a:t>Internship Project – Week 3</a:t>
            </a:r>
          </a:p>
          <a:p>
            <a:endParaRPr lang="en-US" sz="2000" dirty="0"/>
          </a:p>
          <a:p>
            <a:r>
              <a:rPr lang="en-US" sz="2000" dirty="0"/>
              <a:t>Submitted by:</a:t>
            </a:r>
          </a:p>
          <a:p>
            <a:r>
              <a:rPr lang="en-US" sz="2000" dirty="0"/>
              <a:t>Abhay Joshi</a:t>
            </a:r>
            <a:endParaRPr lang="en-IN" sz="2000" dirty="0"/>
          </a:p>
        </p:txBody>
      </p:sp>
    </p:spTree>
    <p:extLst>
      <p:ext uri="{BB962C8B-B14F-4D97-AF65-F5344CB8AC3E}">
        <p14:creationId xmlns:p14="http://schemas.microsoft.com/office/powerpoint/2010/main" val="3541881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5A7FB-3C2D-08A5-86D7-8AC6BEF48840}"/>
              </a:ext>
            </a:extLst>
          </p:cNvPr>
          <p:cNvSpPr>
            <a:spLocks noGrp="1"/>
          </p:cNvSpPr>
          <p:nvPr>
            <p:ph type="title"/>
          </p:nvPr>
        </p:nvSpPr>
        <p:spPr>
          <a:xfrm>
            <a:off x="838200" y="365126"/>
            <a:ext cx="10515600" cy="1031056"/>
          </a:xfrm>
        </p:spPr>
        <p:txBody>
          <a:bodyPr>
            <a:normAutofit/>
          </a:bodyPr>
          <a:lstStyle/>
          <a:p>
            <a:r>
              <a:rPr lang="en-IN" sz="3200" b="1" dirty="0"/>
              <a:t>Project Overview</a:t>
            </a:r>
          </a:p>
        </p:txBody>
      </p:sp>
      <p:sp>
        <p:nvSpPr>
          <p:cNvPr id="3" name="Content Placeholder 2">
            <a:extLst>
              <a:ext uri="{FF2B5EF4-FFF2-40B4-BE49-F238E27FC236}">
                <a16:creationId xmlns:a16="http://schemas.microsoft.com/office/drawing/2014/main" id="{2218B387-EDA0-2842-807B-704F62ECCB89}"/>
              </a:ext>
            </a:extLst>
          </p:cNvPr>
          <p:cNvSpPr>
            <a:spLocks noGrp="1"/>
          </p:cNvSpPr>
          <p:nvPr>
            <p:ph idx="1"/>
          </p:nvPr>
        </p:nvSpPr>
        <p:spPr>
          <a:xfrm>
            <a:off x="838200" y="1504335"/>
            <a:ext cx="10515600" cy="4672628"/>
          </a:xfrm>
        </p:spPr>
        <p:txBody>
          <a:bodyPr>
            <a:normAutofit fontScale="92500" lnSpcReduction="20000"/>
          </a:bodyPr>
          <a:lstStyle/>
          <a:p>
            <a:r>
              <a:rPr lang="en-US" dirty="0"/>
              <a:t>This project analyzes local businesses listed on Google Maps in Chandigarh.</a:t>
            </a:r>
          </a:p>
          <a:p>
            <a:endParaRPr lang="en-US" dirty="0"/>
          </a:p>
          <a:p>
            <a:r>
              <a:rPr lang="en-US" dirty="0"/>
              <a:t>The study focuses on three business categories: Cafes, Gyms, and Salons.</a:t>
            </a:r>
          </a:p>
          <a:p>
            <a:endParaRPr lang="en-US" dirty="0"/>
          </a:p>
          <a:p>
            <a:r>
              <a:rPr lang="en-US" dirty="0"/>
              <a:t>The objective is to evaluate businesses based on website availability, customer ratings, review counts, and business opportunities.</a:t>
            </a:r>
          </a:p>
          <a:p>
            <a:endParaRPr lang="en-US" dirty="0"/>
          </a:p>
          <a:p>
            <a:r>
              <a:rPr lang="en-US" dirty="0"/>
              <a:t>The collected data was cleaned and analyzed using Microsoft Excel and Power BI.</a:t>
            </a:r>
          </a:p>
          <a:p>
            <a:endParaRPr lang="en-US" dirty="0"/>
          </a:p>
          <a:p>
            <a:r>
              <a:rPr lang="en-US" dirty="0"/>
              <a:t>An interactive dashboard was developed to generate meaningful business insights and recommendations.</a:t>
            </a:r>
            <a:endParaRPr lang="en-IN" dirty="0"/>
          </a:p>
        </p:txBody>
      </p:sp>
    </p:spTree>
    <p:extLst>
      <p:ext uri="{BB962C8B-B14F-4D97-AF65-F5344CB8AC3E}">
        <p14:creationId xmlns:p14="http://schemas.microsoft.com/office/powerpoint/2010/main" val="419757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654E2-053B-20F0-AA3D-320AE2CF4A2A}"/>
              </a:ext>
            </a:extLst>
          </p:cNvPr>
          <p:cNvSpPr>
            <a:spLocks noGrp="1"/>
          </p:cNvSpPr>
          <p:nvPr>
            <p:ph type="title"/>
          </p:nvPr>
        </p:nvSpPr>
        <p:spPr>
          <a:xfrm>
            <a:off x="838200" y="1"/>
            <a:ext cx="10515600" cy="678425"/>
          </a:xfrm>
        </p:spPr>
        <p:txBody>
          <a:bodyPr>
            <a:normAutofit/>
          </a:bodyPr>
          <a:lstStyle/>
          <a:p>
            <a:r>
              <a:rPr lang="en-IN" sz="3200" b="1" dirty="0"/>
              <a:t>Dataset Overview</a:t>
            </a:r>
          </a:p>
        </p:txBody>
      </p:sp>
      <p:sp>
        <p:nvSpPr>
          <p:cNvPr id="3" name="Content Placeholder 2">
            <a:extLst>
              <a:ext uri="{FF2B5EF4-FFF2-40B4-BE49-F238E27FC236}">
                <a16:creationId xmlns:a16="http://schemas.microsoft.com/office/drawing/2014/main" id="{A12F3B81-F884-E9BF-083C-F426360231A7}"/>
              </a:ext>
            </a:extLst>
          </p:cNvPr>
          <p:cNvSpPr>
            <a:spLocks noGrp="1"/>
          </p:cNvSpPr>
          <p:nvPr>
            <p:ph idx="1"/>
          </p:nvPr>
        </p:nvSpPr>
        <p:spPr>
          <a:xfrm>
            <a:off x="838200" y="678426"/>
            <a:ext cx="10515600" cy="6179574"/>
          </a:xfrm>
        </p:spPr>
        <p:txBody>
          <a:bodyPr>
            <a:normAutofit fontScale="92500" lnSpcReduction="10000"/>
          </a:bodyPr>
          <a:lstStyle/>
          <a:p>
            <a:pPr marL="0" indent="0">
              <a:buNone/>
            </a:pPr>
            <a:r>
              <a:rPr lang="en-IN" sz="2400" dirty="0"/>
              <a:t>Dataset Summary</a:t>
            </a:r>
          </a:p>
          <a:p>
            <a:r>
              <a:rPr lang="en-IN" sz="2000" b="1" dirty="0"/>
              <a:t>Total Businesses </a:t>
            </a:r>
            <a:r>
              <a:rPr lang="en-IN" sz="2000" b="1" dirty="0" err="1"/>
              <a:t>Analyzed</a:t>
            </a:r>
            <a:r>
              <a:rPr lang="en-IN" sz="2000" b="1" dirty="0"/>
              <a:t>:</a:t>
            </a:r>
            <a:r>
              <a:rPr lang="en-IN" sz="2000" dirty="0"/>
              <a:t> 60</a:t>
            </a:r>
          </a:p>
          <a:p>
            <a:r>
              <a:rPr lang="en-IN" sz="2000" b="1" dirty="0"/>
              <a:t>Location:</a:t>
            </a:r>
            <a:r>
              <a:rPr lang="en-IN" sz="2000" dirty="0"/>
              <a:t> Chandigarh</a:t>
            </a:r>
          </a:p>
          <a:p>
            <a:r>
              <a:rPr lang="en-IN" sz="2000" b="1" dirty="0"/>
              <a:t>Business Categories:</a:t>
            </a:r>
            <a:r>
              <a:rPr lang="en-IN" sz="2000" dirty="0"/>
              <a:t> Cafes, Gyms, Salons</a:t>
            </a:r>
          </a:p>
          <a:p>
            <a:r>
              <a:rPr lang="en-IN" sz="2000" b="1" dirty="0"/>
              <a:t>Data Source:</a:t>
            </a:r>
            <a:r>
              <a:rPr lang="en-IN" sz="2000" dirty="0"/>
              <a:t> Google Maps</a:t>
            </a:r>
          </a:p>
          <a:p>
            <a:r>
              <a:rPr lang="en-IN" sz="2000" b="1" dirty="0"/>
              <a:t>Tools Used:</a:t>
            </a:r>
            <a:r>
              <a:rPr lang="en-IN" sz="2000" dirty="0"/>
              <a:t> Microsoft Excel &amp; Power BI</a:t>
            </a:r>
          </a:p>
          <a:p>
            <a:pPr marL="0" indent="0">
              <a:buNone/>
            </a:pPr>
            <a:endParaRPr lang="en-IN" sz="2000" dirty="0"/>
          </a:p>
          <a:p>
            <a:pPr marL="0" indent="0">
              <a:buNone/>
            </a:pPr>
            <a:r>
              <a:rPr lang="en-IN" sz="2400" dirty="0"/>
              <a:t>Dataset Attributes</a:t>
            </a:r>
          </a:p>
          <a:p>
            <a:pPr marL="0" indent="0">
              <a:buNone/>
            </a:pPr>
            <a:r>
              <a:rPr lang="en-IN" sz="2400" dirty="0"/>
              <a:t>• Business Name</a:t>
            </a:r>
            <a:br>
              <a:rPr lang="en-IN" sz="2400" dirty="0"/>
            </a:br>
            <a:r>
              <a:rPr lang="en-IN" sz="2400" dirty="0"/>
              <a:t>• Category</a:t>
            </a:r>
            <a:br>
              <a:rPr lang="en-IN" sz="2400" dirty="0"/>
            </a:br>
            <a:r>
              <a:rPr lang="en-IN" sz="2400" dirty="0"/>
              <a:t>• Area</a:t>
            </a:r>
            <a:br>
              <a:rPr lang="en-IN" sz="2400" dirty="0"/>
            </a:br>
            <a:r>
              <a:rPr lang="en-IN" sz="2400" dirty="0"/>
              <a:t>• Rating</a:t>
            </a:r>
            <a:br>
              <a:rPr lang="en-IN" sz="2400" dirty="0"/>
            </a:br>
            <a:r>
              <a:rPr lang="en-IN" sz="2400" dirty="0"/>
              <a:t>• Reviews</a:t>
            </a:r>
            <a:br>
              <a:rPr lang="en-IN" sz="2400" dirty="0"/>
            </a:br>
            <a:r>
              <a:rPr lang="en-IN" sz="2400" dirty="0"/>
              <a:t>• Website</a:t>
            </a:r>
            <a:br>
              <a:rPr lang="en-IN" sz="2400" dirty="0"/>
            </a:br>
            <a:r>
              <a:rPr lang="en-IN" sz="2400" dirty="0"/>
              <a:t>• Phone</a:t>
            </a:r>
            <a:br>
              <a:rPr lang="en-IN" sz="2400" dirty="0"/>
            </a:br>
            <a:r>
              <a:rPr lang="en-IN" sz="2400" dirty="0"/>
              <a:t>• Address</a:t>
            </a:r>
            <a:br>
              <a:rPr lang="en-IN" sz="2400" dirty="0"/>
            </a:br>
            <a:r>
              <a:rPr lang="en-IN" sz="2400" dirty="0"/>
              <a:t>• Opportunity</a:t>
            </a:r>
            <a:br>
              <a:rPr lang="en-IN" sz="2400" dirty="0"/>
            </a:br>
            <a:endParaRPr lang="en-IN" sz="2400" dirty="0">
              <a:latin typeface="+mj-lt"/>
            </a:endParaRPr>
          </a:p>
        </p:txBody>
      </p:sp>
      <p:graphicFrame>
        <p:nvGraphicFramePr>
          <p:cNvPr id="4" name="Table 3">
            <a:extLst>
              <a:ext uri="{FF2B5EF4-FFF2-40B4-BE49-F238E27FC236}">
                <a16:creationId xmlns:a16="http://schemas.microsoft.com/office/drawing/2014/main" id="{78A75B89-AC30-A9A6-66A5-F8E70060E255}"/>
              </a:ext>
            </a:extLst>
          </p:cNvPr>
          <p:cNvGraphicFramePr>
            <a:graphicFrameLocks noGrp="1"/>
          </p:cNvGraphicFramePr>
          <p:nvPr>
            <p:extLst>
              <p:ext uri="{D42A27DB-BD31-4B8C-83A1-F6EECF244321}">
                <p14:modId xmlns:p14="http://schemas.microsoft.com/office/powerpoint/2010/main" val="580412916"/>
              </p:ext>
            </p:extLst>
          </p:nvPr>
        </p:nvGraphicFramePr>
        <p:xfrm>
          <a:off x="5338916" y="3883741"/>
          <a:ext cx="6322142" cy="1995948"/>
        </p:xfrm>
        <a:graphic>
          <a:graphicData uri="http://schemas.openxmlformats.org/drawingml/2006/table">
            <a:tbl>
              <a:tblPr firstRow="1" bandRow="1">
                <a:tableStyleId>{7DF18680-E054-41AD-8BC1-D1AEF772440D}</a:tableStyleId>
              </a:tblPr>
              <a:tblGrid>
                <a:gridCol w="3161071">
                  <a:extLst>
                    <a:ext uri="{9D8B030D-6E8A-4147-A177-3AD203B41FA5}">
                      <a16:colId xmlns:a16="http://schemas.microsoft.com/office/drawing/2014/main" val="578001802"/>
                    </a:ext>
                  </a:extLst>
                </a:gridCol>
                <a:gridCol w="3161071">
                  <a:extLst>
                    <a:ext uri="{9D8B030D-6E8A-4147-A177-3AD203B41FA5}">
                      <a16:colId xmlns:a16="http://schemas.microsoft.com/office/drawing/2014/main" val="3782232058"/>
                    </a:ext>
                  </a:extLst>
                </a:gridCol>
              </a:tblGrid>
              <a:tr h="498987">
                <a:tc>
                  <a:txBody>
                    <a:bodyPr/>
                    <a:lstStyle/>
                    <a:p>
                      <a:r>
                        <a:rPr lang="en-IN" sz="2000" b="0" dirty="0"/>
                        <a:t>Category</a:t>
                      </a:r>
                    </a:p>
                  </a:txBody>
                  <a:tcPr/>
                </a:tc>
                <a:tc>
                  <a:txBody>
                    <a:bodyPr/>
                    <a:lstStyle/>
                    <a:p>
                      <a:r>
                        <a:rPr lang="en-IN" sz="2000" dirty="0"/>
                        <a:t>Businesses</a:t>
                      </a:r>
                    </a:p>
                  </a:txBody>
                  <a:tcPr/>
                </a:tc>
                <a:extLst>
                  <a:ext uri="{0D108BD9-81ED-4DB2-BD59-A6C34878D82A}">
                    <a16:rowId xmlns:a16="http://schemas.microsoft.com/office/drawing/2014/main" val="887729374"/>
                  </a:ext>
                </a:extLst>
              </a:tr>
              <a:tr h="498987">
                <a:tc>
                  <a:txBody>
                    <a:bodyPr/>
                    <a:lstStyle/>
                    <a:p>
                      <a:r>
                        <a:rPr lang="en-IN" dirty="0">
                          <a:solidFill>
                            <a:schemeClr val="tx1"/>
                          </a:solidFill>
                        </a:rPr>
                        <a:t>Cafe</a:t>
                      </a:r>
                    </a:p>
                  </a:txBody>
                  <a:tcPr/>
                </a:tc>
                <a:tc>
                  <a:txBody>
                    <a:bodyPr/>
                    <a:lstStyle/>
                    <a:p>
                      <a:r>
                        <a:rPr lang="en-IN" dirty="0"/>
                        <a:t>20</a:t>
                      </a:r>
                    </a:p>
                  </a:txBody>
                  <a:tcPr/>
                </a:tc>
                <a:extLst>
                  <a:ext uri="{0D108BD9-81ED-4DB2-BD59-A6C34878D82A}">
                    <a16:rowId xmlns:a16="http://schemas.microsoft.com/office/drawing/2014/main" val="3586815196"/>
                  </a:ext>
                </a:extLst>
              </a:tr>
              <a:tr h="498987">
                <a:tc>
                  <a:txBody>
                    <a:bodyPr/>
                    <a:lstStyle/>
                    <a:p>
                      <a:r>
                        <a:rPr lang="en-IN" dirty="0"/>
                        <a:t>Gym</a:t>
                      </a:r>
                    </a:p>
                  </a:txBody>
                  <a:tcPr/>
                </a:tc>
                <a:tc>
                  <a:txBody>
                    <a:bodyPr/>
                    <a:lstStyle/>
                    <a:p>
                      <a:r>
                        <a:rPr lang="en-IN" dirty="0"/>
                        <a:t>20</a:t>
                      </a:r>
                    </a:p>
                  </a:txBody>
                  <a:tcPr/>
                </a:tc>
                <a:extLst>
                  <a:ext uri="{0D108BD9-81ED-4DB2-BD59-A6C34878D82A}">
                    <a16:rowId xmlns:a16="http://schemas.microsoft.com/office/drawing/2014/main" val="956458212"/>
                  </a:ext>
                </a:extLst>
              </a:tr>
              <a:tr h="498987">
                <a:tc>
                  <a:txBody>
                    <a:bodyPr/>
                    <a:lstStyle/>
                    <a:p>
                      <a:r>
                        <a:rPr lang="en-IN" dirty="0"/>
                        <a:t>Salon</a:t>
                      </a:r>
                    </a:p>
                  </a:txBody>
                  <a:tcPr/>
                </a:tc>
                <a:tc>
                  <a:txBody>
                    <a:bodyPr/>
                    <a:lstStyle/>
                    <a:p>
                      <a:r>
                        <a:rPr lang="en-IN" dirty="0"/>
                        <a:t>20</a:t>
                      </a:r>
                    </a:p>
                  </a:txBody>
                  <a:tcPr/>
                </a:tc>
                <a:extLst>
                  <a:ext uri="{0D108BD9-81ED-4DB2-BD59-A6C34878D82A}">
                    <a16:rowId xmlns:a16="http://schemas.microsoft.com/office/drawing/2014/main" val="4007464286"/>
                  </a:ext>
                </a:extLst>
              </a:tr>
            </a:tbl>
          </a:graphicData>
        </a:graphic>
      </p:graphicFrame>
    </p:spTree>
    <p:extLst>
      <p:ext uri="{BB962C8B-B14F-4D97-AF65-F5344CB8AC3E}">
        <p14:creationId xmlns:p14="http://schemas.microsoft.com/office/powerpoint/2010/main" val="4157433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741D7-D97E-D49E-4BB5-C62C7CCD0A9D}"/>
              </a:ext>
            </a:extLst>
          </p:cNvPr>
          <p:cNvSpPr>
            <a:spLocks noGrp="1"/>
          </p:cNvSpPr>
          <p:nvPr>
            <p:ph type="title"/>
          </p:nvPr>
        </p:nvSpPr>
        <p:spPr>
          <a:xfrm>
            <a:off x="838200" y="1"/>
            <a:ext cx="10515600" cy="707922"/>
          </a:xfrm>
        </p:spPr>
        <p:txBody>
          <a:bodyPr>
            <a:normAutofit/>
          </a:bodyPr>
          <a:lstStyle/>
          <a:p>
            <a:pPr algn="ctr"/>
            <a:r>
              <a:rPr lang="en-IN" sz="3200" b="1" dirty="0"/>
              <a:t>Power BI Dashboard</a:t>
            </a:r>
          </a:p>
        </p:txBody>
      </p:sp>
      <p:pic>
        <p:nvPicPr>
          <p:cNvPr id="4" name="Picture 3">
            <a:extLst>
              <a:ext uri="{FF2B5EF4-FFF2-40B4-BE49-F238E27FC236}">
                <a16:creationId xmlns:a16="http://schemas.microsoft.com/office/drawing/2014/main" id="{A5D77FBB-0B03-519B-5C1D-EF4904FCBD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7187" y="707924"/>
            <a:ext cx="9163666" cy="5869858"/>
          </a:xfrm>
          <a:prstGeom prst="rect">
            <a:avLst/>
          </a:prstGeom>
        </p:spPr>
      </p:pic>
    </p:spTree>
    <p:extLst>
      <p:ext uri="{BB962C8B-B14F-4D97-AF65-F5344CB8AC3E}">
        <p14:creationId xmlns:p14="http://schemas.microsoft.com/office/powerpoint/2010/main" val="2221269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D14E2-36EB-AA1A-C48D-41ECD20E71E7}"/>
              </a:ext>
            </a:extLst>
          </p:cNvPr>
          <p:cNvSpPr>
            <a:spLocks noGrp="1"/>
          </p:cNvSpPr>
          <p:nvPr>
            <p:ph type="title"/>
          </p:nvPr>
        </p:nvSpPr>
        <p:spPr>
          <a:xfrm>
            <a:off x="838200" y="78659"/>
            <a:ext cx="10515600" cy="865238"/>
          </a:xfrm>
        </p:spPr>
        <p:txBody>
          <a:bodyPr>
            <a:normAutofit/>
          </a:bodyPr>
          <a:lstStyle/>
          <a:p>
            <a:r>
              <a:rPr lang="en-IN" sz="3200" b="1" dirty="0"/>
              <a:t>Key Insights</a:t>
            </a:r>
          </a:p>
        </p:txBody>
      </p:sp>
      <p:sp>
        <p:nvSpPr>
          <p:cNvPr id="3" name="Content Placeholder 2">
            <a:extLst>
              <a:ext uri="{FF2B5EF4-FFF2-40B4-BE49-F238E27FC236}">
                <a16:creationId xmlns:a16="http://schemas.microsoft.com/office/drawing/2014/main" id="{B5E36D18-58C5-16D4-3DC2-3B40A344B793}"/>
              </a:ext>
            </a:extLst>
          </p:cNvPr>
          <p:cNvSpPr>
            <a:spLocks noGrp="1"/>
          </p:cNvSpPr>
          <p:nvPr>
            <p:ph idx="1"/>
          </p:nvPr>
        </p:nvSpPr>
        <p:spPr>
          <a:xfrm>
            <a:off x="838200" y="943897"/>
            <a:ext cx="10515600" cy="5233066"/>
          </a:xfrm>
        </p:spPr>
        <p:txBody>
          <a:bodyPr>
            <a:normAutofit/>
          </a:bodyPr>
          <a:lstStyle/>
          <a:p>
            <a:r>
              <a:rPr lang="en-IN" sz="2400" b="1" dirty="0"/>
              <a:t>60 local businesses</a:t>
            </a:r>
            <a:r>
              <a:rPr lang="en-IN" sz="2400" dirty="0"/>
              <a:t> across Cafes, Gyms, and Salons were </a:t>
            </a:r>
            <a:r>
              <a:rPr lang="en-IN" sz="2400" dirty="0" err="1"/>
              <a:t>analyzed</a:t>
            </a:r>
            <a:r>
              <a:rPr lang="en-IN" sz="2400" dirty="0"/>
              <a:t> using Google Maps data.</a:t>
            </a:r>
          </a:p>
          <a:p>
            <a:r>
              <a:rPr lang="en-IN" sz="2400" dirty="0"/>
              <a:t>A considerable number of businesses </a:t>
            </a:r>
            <a:r>
              <a:rPr lang="en-IN" sz="2400" b="1" dirty="0"/>
              <a:t>do not have a dedicated website</a:t>
            </a:r>
            <a:r>
              <a:rPr lang="en-IN" sz="2400" dirty="0"/>
              <a:t>, indicating opportunities to strengthen their digital presence.</a:t>
            </a:r>
          </a:p>
          <a:p>
            <a:r>
              <a:rPr lang="en-IN" sz="2400" b="1" dirty="0"/>
              <a:t>Gyms recorded the highest average customer ratings</a:t>
            </a:r>
            <a:r>
              <a:rPr lang="en-IN" sz="2400" dirty="0"/>
              <a:t>, reflecting strong customer satisfaction.</a:t>
            </a:r>
          </a:p>
          <a:p>
            <a:r>
              <a:rPr lang="en-IN" sz="2400" dirty="0"/>
              <a:t>Businesses with </a:t>
            </a:r>
            <a:r>
              <a:rPr lang="en-IN" sz="2400" b="1" dirty="0"/>
              <a:t>higher review counts</a:t>
            </a:r>
            <a:r>
              <a:rPr lang="en-IN" sz="2400" dirty="0"/>
              <a:t> generally have greater visibility and customer engagement.</a:t>
            </a:r>
          </a:p>
          <a:p>
            <a:r>
              <a:rPr lang="en-IN" sz="2400" dirty="0"/>
              <a:t>The </a:t>
            </a:r>
            <a:r>
              <a:rPr lang="en-IN" sz="2400" b="1" dirty="0"/>
              <a:t>Business Opportunity Analysis</a:t>
            </a:r>
            <a:r>
              <a:rPr lang="en-IN" sz="2400" dirty="0"/>
              <a:t> identified several businesses that could benefit from establishing or improving their online presence.</a:t>
            </a:r>
          </a:p>
          <a:p>
            <a:r>
              <a:rPr lang="en-IN" sz="2400" dirty="0"/>
              <a:t>The interactive dashboard enables users to compare categories and explore business information using filters.</a:t>
            </a:r>
          </a:p>
        </p:txBody>
      </p:sp>
    </p:spTree>
    <p:extLst>
      <p:ext uri="{BB962C8B-B14F-4D97-AF65-F5344CB8AC3E}">
        <p14:creationId xmlns:p14="http://schemas.microsoft.com/office/powerpoint/2010/main" val="2152724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BCDFE-67D3-AA4E-DFA6-AF4F01BCD071}"/>
              </a:ext>
            </a:extLst>
          </p:cNvPr>
          <p:cNvSpPr>
            <a:spLocks noGrp="1"/>
          </p:cNvSpPr>
          <p:nvPr>
            <p:ph type="title"/>
          </p:nvPr>
        </p:nvSpPr>
        <p:spPr>
          <a:xfrm>
            <a:off x="838200" y="452284"/>
            <a:ext cx="10515600" cy="963560"/>
          </a:xfrm>
        </p:spPr>
        <p:txBody>
          <a:bodyPr>
            <a:normAutofit/>
          </a:bodyPr>
          <a:lstStyle/>
          <a:p>
            <a:r>
              <a:rPr lang="en-IN" sz="3200" b="1" dirty="0"/>
              <a:t>Business Recommendations</a:t>
            </a:r>
          </a:p>
        </p:txBody>
      </p:sp>
      <p:sp>
        <p:nvSpPr>
          <p:cNvPr id="3" name="Content Placeholder 2">
            <a:extLst>
              <a:ext uri="{FF2B5EF4-FFF2-40B4-BE49-F238E27FC236}">
                <a16:creationId xmlns:a16="http://schemas.microsoft.com/office/drawing/2014/main" id="{07626E2F-0D27-59ED-5669-9795C6399DFA}"/>
              </a:ext>
            </a:extLst>
          </p:cNvPr>
          <p:cNvSpPr>
            <a:spLocks noGrp="1"/>
          </p:cNvSpPr>
          <p:nvPr>
            <p:ph idx="1"/>
          </p:nvPr>
        </p:nvSpPr>
        <p:spPr>
          <a:xfrm>
            <a:off x="838200" y="1602657"/>
            <a:ext cx="10515600" cy="4385187"/>
          </a:xfrm>
        </p:spPr>
        <p:txBody>
          <a:bodyPr/>
          <a:lstStyle/>
          <a:p>
            <a:r>
              <a:rPr lang="en-IN" sz="2400" b="1" dirty="0"/>
              <a:t>Develop a professional website</a:t>
            </a:r>
            <a:r>
              <a:rPr lang="en-IN" sz="2400" dirty="0"/>
              <a:t> to improve credibility and make it easier for customers to find business information.</a:t>
            </a:r>
          </a:p>
          <a:p>
            <a:r>
              <a:rPr lang="en-IN" sz="2400" b="1" dirty="0"/>
              <a:t>Strengthen digital marketing efforts</a:t>
            </a:r>
            <a:r>
              <a:rPr lang="en-IN" sz="2400" dirty="0"/>
              <a:t> by maintaining an active online presence and regularly updating business details.</a:t>
            </a:r>
          </a:p>
          <a:p>
            <a:r>
              <a:rPr lang="en-IN" sz="2400" b="1" dirty="0"/>
              <a:t>Optimize Google Business Profiles</a:t>
            </a:r>
            <a:r>
              <a:rPr lang="en-IN" sz="2400" dirty="0"/>
              <a:t> with accurate contact information, operating hours, and high-quality photos.</a:t>
            </a:r>
          </a:p>
          <a:p>
            <a:r>
              <a:rPr lang="en-IN" sz="2400" b="1" dirty="0"/>
              <a:t>Engage with customers</a:t>
            </a:r>
            <a:r>
              <a:rPr lang="en-IN" sz="2400" dirty="0"/>
              <a:t> by responding to reviews and encouraging satisfied customers to leave feedback.</a:t>
            </a:r>
          </a:p>
          <a:p>
            <a:r>
              <a:rPr lang="en-IN" sz="2400" b="1" dirty="0"/>
              <a:t>Prioritize businesses with High and Medium Opportunity levels</a:t>
            </a:r>
            <a:r>
              <a:rPr lang="en-IN" sz="2400" dirty="0"/>
              <a:t> for digital transformation initiatives to improve customer reach and business growth. </a:t>
            </a:r>
          </a:p>
        </p:txBody>
      </p:sp>
    </p:spTree>
    <p:extLst>
      <p:ext uri="{BB962C8B-B14F-4D97-AF65-F5344CB8AC3E}">
        <p14:creationId xmlns:p14="http://schemas.microsoft.com/office/powerpoint/2010/main" val="1578659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2A01C-1694-4D27-0FB4-EAD3D0146886}"/>
              </a:ext>
            </a:extLst>
          </p:cNvPr>
          <p:cNvSpPr>
            <a:spLocks noGrp="1"/>
          </p:cNvSpPr>
          <p:nvPr>
            <p:ph type="title"/>
          </p:nvPr>
        </p:nvSpPr>
        <p:spPr/>
        <p:txBody>
          <a:bodyPr>
            <a:normAutofit/>
          </a:bodyPr>
          <a:lstStyle/>
          <a:p>
            <a:r>
              <a:rPr lang="en-IN" sz="3200" b="1" dirty="0"/>
              <a:t>Conclusion</a:t>
            </a:r>
          </a:p>
        </p:txBody>
      </p:sp>
      <p:sp>
        <p:nvSpPr>
          <p:cNvPr id="3" name="Content Placeholder 2">
            <a:extLst>
              <a:ext uri="{FF2B5EF4-FFF2-40B4-BE49-F238E27FC236}">
                <a16:creationId xmlns:a16="http://schemas.microsoft.com/office/drawing/2014/main" id="{CB35AA4D-A1D0-4F86-5860-C89F9588511C}"/>
              </a:ext>
            </a:extLst>
          </p:cNvPr>
          <p:cNvSpPr>
            <a:spLocks noGrp="1"/>
          </p:cNvSpPr>
          <p:nvPr>
            <p:ph idx="1"/>
          </p:nvPr>
        </p:nvSpPr>
        <p:spPr>
          <a:xfrm>
            <a:off x="838200" y="1514168"/>
            <a:ext cx="10515600" cy="4662795"/>
          </a:xfrm>
        </p:spPr>
        <p:txBody>
          <a:bodyPr>
            <a:normAutofit/>
          </a:bodyPr>
          <a:lstStyle/>
          <a:p>
            <a:pPr marL="0" indent="0">
              <a:buNone/>
            </a:pPr>
            <a:r>
              <a:rPr lang="en-IN" sz="2400" dirty="0"/>
              <a:t>This project successfully </a:t>
            </a:r>
            <a:r>
              <a:rPr lang="en-IN" sz="2400" dirty="0" err="1"/>
              <a:t>analyzed</a:t>
            </a:r>
            <a:r>
              <a:rPr lang="en-IN" sz="2400" dirty="0"/>
              <a:t> the digital presence of Cafes, Gyms, and Salons in Chandigarh using Google Maps data. </a:t>
            </a:r>
          </a:p>
          <a:p>
            <a:pPr marL="0" indent="0">
              <a:buNone/>
            </a:pPr>
            <a:endParaRPr lang="en-IN" sz="2400" dirty="0"/>
          </a:p>
          <a:p>
            <a:pPr marL="0" indent="0">
              <a:buNone/>
            </a:pPr>
            <a:r>
              <a:rPr lang="en-IN" sz="2400" dirty="0"/>
              <a:t>By utilizing Microsoft Excel and Power BI, an interactive dashboard was developed to visualize business information, compare categories, and identify growth opportunities. The insights generated from this analysis can help businesses strengthen their online presence and support better decision-making.</a:t>
            </a:r>
          </a:p>
          <a:p>
            <a:pPr marL="0" indent="0">
              <a:buNone/>
            </a:pPr>
            <a:endParaRPr lang="en-IN" sz="2400" dirty="0"/>
          </a:p>
          <a:p>
            <a:pPr marL="0" indent="0">
              <a:buNone/>
            </a:pPr>
            <a:r>
              <a:rPr lang="en-IN" sz="2400" dirty="0"/>
              <a:t>"Data-driven insights help businesses make smarter digital decisions."</a:t>
            </a:r>
          </a:p>
        </p:txBody>
      </p:sp>
    </p:spTree>
    <p:extLst>
      <p:ext uri="{BB962C8B-B14F-4D97-AF65-F5344CB8AC3E}">
        <p14:creationId xmlns:p14="http://schemas.microsoft.com/office/powerpoint/2010/main" val="2398118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011EA-EA09-65EC-5518-59011265801F}"/>
              </a:ext>
            </a:extLst>
          </p:cNvPr>
          <p:cNvSpPr>
            <a:spLocks noGrp="1"/>
          </p:cNvSpPr>
          <p:nvPr>
            <p:ph type="title"/>
          </p:nvPr>
        </p:nvSpPr>
        <p:spPr>
          <a:xfrm>
            <a:off x="838200" y="2684206"/>
            <a:ext cx="10515600" cy="1317524"/>
          </a:xfrm>
        </p:spPr>
        <p:txBody>
          <a:bodyPr>
            <a:normAutofit/>
          </a:bodyPr>
          <a:lstStyle/>
          <a:p>
            <a:pPr algn="ctr"/>
            <a:r>
              <a:rPr lang="en-IN" sz="7200" dirty="0"/>
              <a:t>Thank You!</a:t>
            </a:r>
          </a:p>
        </p:txBody>
      </p:sp>
    </p:spTree>
    <p:extLst>
      <p:ext uri="{BB962C8B-B14F-4D97-AF65-F5344CB8AC3E}">
        <p14:creationId xmlns:p14="http://schemas.microsoft.com/office/powerpoint/2010/main" val="4015551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TotalTime>
  <Words>439</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Google Maps Business Analysis Dashboard</vt:lpstr>
      <vt:lpstr>Project Overview</vt:lpstr>
      <vt:lpstr>Dataset Overview</vt:lpstr>
      <vt:lpstr>Power BI Dashboard</vt:lpstr>
      <vt:lpstr>Key Insights</vt:lpstr>
      <vt:lpstr>Business 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Abhay Joshi</dc:creator>
  <cp:lastModifiedBy>Abhay Joshi</cp:lastModifiedBy>
  <cp:revision>1</cp:revision>
  <dcterms:created xsi:type="dcterms:W3CDTF">2026-07-03T14:38:25Z</dcterms:created>
  <dcterms:modified xsi:type="dcterms:W3CDTF">2026-07-03T15:13:42Z</dcterms:modified>
</cp:coreProperties>
</file>